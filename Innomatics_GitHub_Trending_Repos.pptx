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1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1C1E"/>
                </a:solidFill>
                <a:latin typeface="Calibri"/>
              </a:rPr>
              <a:t>Repository Count by Star Bucket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 Count</c:v>
                </c:pt>
              </c:strCache>
            </c:strRef>
          </c:tx>
          <c:spPr>
            <a:solidFill>
              <a:srgbClr val="A619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4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0-1k</c:v>
                  </c:pt>
                  <c:pt idx="1">
                    <c:v>1k-5k</c:v>
                  </c:pt>
                  <c:pt idx="2">
                    <c:v>5k-20k</c:v>
                  </c:pt>
                  <c:pt idx="3">
                    <c:v>20k-50k</c:v>
                  </c:pt>
                  <c:pt idx="4">
                    <c:v>50k+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520</c:v>
                </c:pt>
                <c:pt idx="1">
                  <c:v>165</c:v>
                </c:pt>
                <c:pt idx="2">
                  <c:v>62</c:v>
                </c:pt>
                <c:pt idx="3">
                  <c:v>24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4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C1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1C1E"/>
                </a:solidFill>
                <a:latin typeface="Calibri"/>
              </a:rPr>
              <a:t>Repository Count by Language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Repos</c:v>
                </c:pt>
              </c:strCache>
            </c:strRef>
          </c:tx>
          <c:spPr>
            <a:solidFill>
              <a:srgbClr val="A619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4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TypeScript</c:v>
                  </c:pt>
                  <c:pt idx="1">
                    <c:v>Python</c:v>
                  </c:pt>
                  <c:pt idx="2">
                    <c:v>JavaScript</c:v>
                  </c:pt>
                  <c:pt idx="3">
                    <c:v>Go</c:v>
                  </c:pt>
                  <c:pt idx="4">
                    <c:v>Rust</c:v>
                  </c:pt>
                  <c:pt idx="5">
                    <c:v>Other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178</c:v>
                </c:pt>
                <c:pt idx="2">
                  <c:v>156</c:v>
                </c:pt>
                <c:pt idx="3">
                  <c:v>88</c:v>
                </c:pt>
                <c:pt idx="4">
                  <c:v>64</c:v>
                </c:pt>
                <c:pt idx="5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4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Stars (k)</c:v>
                </c:pt>
              </c:strCache>
            </c:strRef>
          </c:tx>
          <c:spPr>
            <a:solidFill>
              <a:srgbClr val="A619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4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Web Dev</c:v>
                  </c:pt>
                  <c:pt idx="1">
                    <c:v>Data Science</c:v>
                  </c:pt>
                  <c:pt idx="2">
                    <c:v>Mobile</c:v>
                  </c:pt>
                  <c:pt idx="3">
                    <c:v>DevOps</c:v>
                  </c:pt>
                  <c:pt idx="4">
                    <c:v>UI/UX</c:v>
                  </c:pt>
                  <c:pt idx="5">
                    <c:v>Cybersecurity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35</c:v>
                </c:pt>
                <c:pt idx="2">
                  <c:v>22</c:v>
                </c:pt>
                <c:pt idx="3">
                  <c:v>18</c:v>
                </c:pt>
                <c:pt idx="4">
                  <c:v>9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A4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4A4A"/>
                    </a:solidFill>
                    <a:latin typeface="Arial"/>
                  </a:rPr>
                  <a:t>Avg Stars (thousands)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1C1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1C1E"/>
                </a:solidFill>
                <a:latin typeface="Calibri"/>
              </a:rPr>
              <a:t>Name Length (chars) vs. Star Count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Stars (k)</c:v>
                </c:pt>
              </c:strCache>
            </c:strRef>
          </c:tx>
          <c:spPr>
            <a:solidFill>
              <a:srgbClr val="A6192E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A6192E"/>
              </a:solidFill>
              <a:ln w="9525" cap="flat">
                <a:solidFill>
                  <a:srgbClr val="A6192E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10</c:v>
                </c:pt>
                <c:pt idx="1">
                  <c:v>30</c:v>
                </c:pt>
                <c:pt idx="2">
                  <c:v>9</c:v>
                </c:pt>
                <c:pt idx="3">
                  <c:v>35</c:v>
                </c:pt>
                <c:pt idx="4">
                  <c:v>30</c:v>
                </c:pt>
                <c:pt idx="5">
                  <c:v>23</c:v>
                </c:pt>
                <c:pt idx="6">
                  <c:v>6</c:v>
                </c:pt>
                <c:pt idx="7">
                  <c:v>23</c:v>
                </c:pt>
                <c:pt idx="8">
                  <c:v>31</c:v>
                </c:pt>
                <c:pt idx="9">
                  <c:v>16</c:v>
                </c:pt>
                <c:pt idx="10">
                  <c:v>20</c:v>
                </c:pt>
                <c:pt idx="11">
                  <c:v>6</c:v>
                </c:pt>
                <c:pt idx="12">
                  <c:v>18</c:v>
                </c:pt>
                <c:pt idx="13">
                  <c:v>35</c:v>
                </c:pt>
                <c:pt idx="14">
                  <c:v>32</c:v>
                </c:pt>
                <c:pt idx="15">
                  <c:v>14</c:v>
                </c:pt>
                <c:pt idx="16">
                  <c:v>6</c:v>
                </c:pt>
                <c:pt idx="17">
                  <c:v>10</c:v>
                </c:pt>
                <c:pt idx="18">
                  <c:v>29</c:v>
                </c:pt>
                <c:pt idx="19">
                  <c:v>9</c:v>
                </c:pt>
                <c:pt idx="20">
                  <c:v>13</c:v>
                </c:pt>
                <c:pt idx="21">
                  <c:v>24</c:v>
                </c:pt>
                <c:pt idx="22">
                  <c:v>26</c:v>
                </c:pt>
                <c:pt idx="23">
                  <c:v>26</c:v>
                </c:pt>
                <c:pt idx="24">
                  <c:v>26</c:v>
                </c:pt>
                <c:pt idx="25">
                  <c:v>28</c:v>
                </c:pt>
                <c:pt idx="26">
                  <c:v>19</c:v>
                </c:pt>
                <c:pt idx="27">
                  <c:v>16</c:v>
                </c:pt>
                <c:pt idx="28">
                  <c:v>14</c:v>
                </c:pt>
                <c:pt idx="29">
                  <c:v>13</c:v>
                </c:pt>
                <c:pt idx="30">
                  <c:v>24</c:v>
                </c:pt>
                <c:pt idx="31">
                  <c:v>14</c:v>
                </c:pt>
                <c:pt idx="32">
                  <c:v>33</c:v>
                </c:pt>
                <c:pt idx="33">
                  <c:v>12</c:v>
                </c:pt>
                <c:pt idx="34">
                  <c:v>14</c:v>
                </c:pt>
                <c:pt idx="35">
                  <c:v>15</c:v>
                </c:pt>
                <c:pt idx="36">
                  <c:v>32</c:v>
                </c:pt>
                <c:pt idx="37">
                  <c:v>31</c:v>
                </c:pt>
                <c:pt idx="38">
                  <c:v>7</c:v>
                </c:pt>
                <c:pt idx="39">
                  <c:v>24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28</c:v>
                </c:pt>
                <c:pt idx="1">
                  <c:v>19</c:v>
                </c:pt>
                <c:pt idx="2">
                  <c:v>84</c:v>
                </c:pt>
                <c:pt idx="3">
                  <c:v>92</c:v>
                </c:pt>
                <c:pt idx="4">
                  <c:v>54</c:v>
                </c:pt>
                <c:pt idx="5">
                  <c:v>97</c:v>
                </c:pt>
                <c:pt idx="6">
                  <c:v>54</c:v>
                </c:pt>
                <c:pt idx="7">
                  <c:v>66</c:v>
                </c:pt>
                <c:pt idx="8">
                  <c:v>68</c:v>
                </c:pt>
                <c:pt idx="9">
                  <c:v>100</c:v>
                </c:pt>
                <c:pt idx="10">
                  <c:v>9</c:v>
                </c:pt>
                <c:pt idx="11">
                  <c:v>58</c:v>
                </c:pt>
                <c:pt idx="12">
                  <c:v>11</c:v>
                </c:pt>
                <c:pt idx="13">
                  <c:v>47</c:v>
                </c:pt>
                <c:pt idx="14">
                  <c:v>81</c:v>
                </c:pt>
                <c:pt idx="15">
                  <c:v>59</c:v>
                </c:pt>
                <c:pt idx="16">
                  <c:v>69</c:v>
                </c:pt>
                <c:pt idx="17">
                  <c:v>14</c:v>
                </c:pt>
                <c:pt idx="18">
                  <c:v>82</c:v>
                </c:pt>
                <c:pt idx="19">
                  <c:v>14</c:v>
                </c:pt>
                <c:pt idx="20">
                  <c:v>28</c:v>
                </c:pt>
                <c:pt idx="21">
                  <c:v>100</c:v>
                </c:pt>
                <c:pt idx="22">
                  <c:v>34</c:v>
                </c:pt>
                <c:pt idx="23">
                  <c:v>10</c:v>
                </c:pt>
                <c:pt idx="24">
                  <c:v>19</c:v>
                </c:pt>
                <c:pt idx="25">
                  <c:v>15</c:v>
                </c:pt>
                <c:pt idx="26">
                  <c:v>18</c:v>
                </c:pt>
                <c:pt idx="27">
                  <c:v>25</c:v>
                </c:pt>
                <c:pt idx="28">
                  <c:v>84</c:v>
                </c:pt>
                <c:pt idx="29">
                  <c:v>6</c:v>
                </c:pt>
                <c:pt idx="30">
                  <c:v>9</c:v>
                </c:pt>
                <c:pt idx="31">
                  <c:v>76</c:v>
                </c:pt>
                <c:pt idx="32">
                  <c:v>20</c:v>
                </c:pt>
                <c:pt idx="33">
                  <c:v>28</c:v>
                </c:pt>
                <c:pt idx="34">
                  <c:v>23</c:v>
                </c:pt>
                <c:pt idx="35">
                  <c:v>2</c:v>
                </c:pt>
                <c:pt idx="36">
                  <c:v>39</c:v>
                </c:pt>
                <c:pt idx="37">
                  <c:v>51</c:v>
                </c:pt>
                <c:pt idx="38">
                  <c:v>58</c:v>
                </c:pt>
                <c:pt idx="39">
                  <c:v>10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4A4A"/>
                    </a:solidFill>
                    <a:latin typeface="Arial"/>
                  </a:rPr>
                  <a:t>Name Length (chars)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4A4A"/>
                    </a:solidFill>
                    <a:latin typeface="Arial"/>
                  </a:rPr>
                  <a:t>Stars (thousands)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INNOMATICS RESEARCH LABS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Trending Repository Analysis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Study of Developer Traction Across Repository Categories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Team  |  Project Report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Six-Stage Framework Drives This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tracking challenge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94560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scraping and stats goals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3246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data workflow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17720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visual patterns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389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617720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26280" y="5669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with hypothesis tests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43891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617720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532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75320" y="56692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findings to action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Tracking Cannot Scale Across GitHub's Repo Volume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repository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makes manual monitoring impractical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 what drives developer traction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exists to compare categories at scale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surface real patterns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40880" y="182880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2286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406640" y="3246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repositories trend daily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3977640"/>
            <a:ext cx="3474720" cy="0"/>
          </a:xfrm>
          <a:prstGeom prst="line">
            <a:avLst/>
          </a:prstGeom>
          <a:noFill/>
          <a:ln w="12700">
            <a:solidFill>
              <a:srgbClr val="5555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42062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categories. No consistent signal.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does not scale.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Three-Pronged Objective Combines Scraping, Cleaning, and Statistical Proof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BEE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697480"/>
            <a:ext cx="640080" cy="64008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GitHub repositories using Stars as the core metric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BEEE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697480"/>
            <a:ext cx="640080" cy="64008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IQR-based cleaning to remove outlier distortion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BEEE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2697480"/>
            <a:ext cx="640080" cy="64008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4108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4108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ANOVA and T-Tests to statistically prove popularity trends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Python-Centric Stack Powers the Entire Analytics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2514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Language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16352" y="219456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2514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6192E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4069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BeautifulSoup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84064" y="219456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514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5193792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Handling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93792" y="4069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51776" y="219456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2514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6192E"/>
          </a:solidFill>
          <a:ln/>
        </p:spPr>
      </p:sp>
      <p:sp>
        <p:nvSpPr>
          <p:cNvPr id="18" name="Text 16"/>
          <p:cNvSpPr/>
          <p:nvPr/>
        </p:nvSpPr>
        <p:spPr>
          <a:xfrm>
            <a:off x="7461504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61504" y="4069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19488" y="2194560"/>
            <a:ext cx="2084832" cy="2926080"/>
          </a:xfrm>
          <a:prstGeom prst="roundRect">
            <a:avLst>
              <a:gd name="adj" fmla="val 3509"/>
            </a:avLst>
          </a:prstGeom>
          <a:solidFill>
            <a:srgbClr val="F7F7F8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87584" y="2514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6192E"/>
          </a:solidFill>
          <a:ln/>
        </p:spPr>
      </p:sp>
      <p:sp>
        <p:nvSpPr>
          <p:cNvPr id="22" name="Text 20"/>
          <p:cNvSpPr/>
          <p:nvPr/>
        </p:nvSpPr>
        <p:spPr>
          <a:xfrm>
            <a:off x="9729216" y="3337560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29216" y="406908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Parsing Logic Automates Reliable Star-Count Extraction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5E7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51760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string parser decodes 'k'/'m' star abbreviations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5E7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651760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category loops scale collection across repo types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2377440"/>
            <a:ext cx="3611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5E7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41080" y="2651760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Errors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41080" y="37490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error handling manages bad HTTP status codes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extraction ensures consistent downstream data quality.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Delivers 781 Validated Records Across 7 Attributes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A619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51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B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19456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eliminated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from the dataset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skewed counts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validated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data integrity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· STARS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Distribution Is Extremely Right-Skewed with Elite Outliers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5740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205740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F7F7F8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237744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right-skewed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dominates star counts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cluster at low star values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variance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typical repos from breakout hits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outliers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disproportionately drive total star volume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· LANGUAGES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TypeScript, Python, and JavaScript Dominate Repository Volume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0574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205740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F7F7F8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2377440"/>
            <a:ext cx="3429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leads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language demographic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holds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second-place representation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rounds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the top three languages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footprint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dominant ecosystem preference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 Repos Command the Highest Star Engagement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10312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 Naming Length Has Near-Zero Impact on Popularity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103120"/>
          <a:ext cx="6126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95160" y="2103120"/>
            <a:ext cx="4617720" cy="4023360"/>
          </a:xfrm>
          <a:prstGeom prst="roundRect">
            <a:avLst>
              <a:gd name="adj" fmla="val 1818"/>
            </a:avLst>
          </a:prstGeom>
          <a:solidFill>
            <a:srgbClr val="F7F7F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242316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 correlation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name length to word count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(-0.016) ties naming to popularity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Owner/repo name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fails to predict star success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drive repository success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 Confirms All Popularity Patterns Are Non-Random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BEEE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651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proves the Python vs. Java star gap is real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4983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983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BEEE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651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confirms cross-category variation is non-random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54880" y="4983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4983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23774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BEEEF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651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41080" y="32461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links repository category with language choice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41080" y="4983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C1C1E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4983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Investment Should Prioritize Web Dev and Data Science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curriculum investment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Web Dev and Data Science tracks to align with real market usage.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frameworks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TypeScript, Python, and JavaScript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training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with actual market demand signals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17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investment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lower-traction category frameworks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1C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Data-Backed Evidence Enables Precision Training Pipeline Optimization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scraping 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genuine community demand signals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proof 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guesswork in curriculum planning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Innomatics gains 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optimize training pipelines accurately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en-US" sz="16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rigor 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decisions withstand scrutiny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040880" y="1965960"/>
            <a:ext cx="4572000" cy="4297680"/>
          </a:xfrm>
          <a:prstGeom prst="roundRect">
            <a:avLst>
              <a:gd name="adj" fmla="val 1702"/>
            </a:avLst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0" y="31089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Decisions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06640" y="4434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B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curriculum design, powered by GitHub trend data.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4631436" y="2331720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A6192E"/>
          </a:solidFill>
          <a:ln/>
        </p:spPr>
      </p:sp>
      <p:sp>
        <p:nvSpPr>
          <p:cNvPr id="4" name="Shape 2"/>
          <p:cNvSpPr/>
          <p:nvPr/>
        </p:nvSpPr>
        <p:spPr>
          <a:xfrm rot="-1200000">
            <a:off x="6368796" y="2331720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D8D8DA"/>
          </a:solidFill>
          <a:ln/>
        </p:spPr>
      </p:sp>
      <p:sp>
        <p:nvSpPr>
          <p:cNvPr id="5" name="Shape 3"/>
          <p:cNvSpPr/>
          <p:nvPr/>
        </p:nvSpPr>
        <p:spPr>
          <a:xfrm>
            <a:off x="5774436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32918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Innomatics Research Labs  —  Data Science Team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2026-09-04T05:22:47Z</dcterms:created>
  <dcterms:modified xsi:type="dcterms:W3CDTF">2026-09-04T05:22:47Z</dcterms:modified>
</cp:coreProperties>
</file>